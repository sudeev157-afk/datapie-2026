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A40"/>
    <a:srgbClr val="C42C48"/>
    <a:srgbClr val="501214"/>
    <a:srgbClr val="A18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9"/>
    <p:restoredTop sz="96000" autoAdjust="0"/>
  </p:normalViewPr>
  <p:slideViewPr>
    <p:cSldViewPr snapToGrid="0">
      <p:cViewPr>
        <p:scale>
          <a:sx n="29" d="100"/>
          <a:sy n="29" d="100"/>
        </p:scale>
        <p:origin x="952" y="-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87AA8-E2E4-6346-957B-53DDA6B87A4D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EC17E-66F9-8D46-AB06-0783D4B00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4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EC17E-66F9-8D46-AB06-0783D4B00B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7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48F3670-9616-6933-0D8C-D8F06235D8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7089" y="30175200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D040BE2-2A67-FBE0-A98F-B0D85AA1908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424573" y="25745169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A813508E-B9EB-6C09-E96C-12AA995DFC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220661" y="21247101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CB25B35-8C3A-F255-4247-63CCF2DCEA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2432057" y="21298582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CEB33FC1-5473-7A12-3E8D-C58CC21D28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228598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011BDB6-C438-5329-5DAC-2A45C1F447E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2432057" y="16817070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CEF88326-8D26-5EC1-BD8A-E1116CB170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15712" y="30191756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29E9E52-3736-62F8-E282-CD10E8BFE7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1408229" y="25728613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5A505-F2F6-EC1B-F2D5-1E9A1D8140E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11854" y="21282026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025CF888-D949-CCC5-72E0-76825D0B59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15713" y="21298582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BE82858-A3ED-0689-7990-78BBAD5A24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204316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36445EC-F62C-42DA-66E0-5DA2F7D8BEE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1415713" y="16800514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77ADE4D-4ABA-E655-59C1-E92411C4EE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399" y="3546473"/>
            <a:ext cx="42062399" cy="649922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Department of {Insert Name Here}, College {Insert Name Here}, Texas State University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6344EA-D2DF-ECEE-98B9-CE46934433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399" y="2537430"/>
            <a:ext cx="42062399" cy="928716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Presenter Name, Associates and Collaborators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CB283C4F-E4CE-24D4-D880-EAB5170C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14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5F6D023-ED97-6394-3659-BBA26602E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8912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1054662-E870-ED5A-5CA6-EDBBC2196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7202" y="4968755"/>
            <a:ext cx="44805600" cy="365760"/>
          </a:xfrm>
          <a:prstGeom prst="rect">
            <a:avLst/>
          </a:prstGeom>
        </p:spPr>
      </p:pic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48F3670-9616-6933-0D8C-D8F06235D8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7089" y="30175200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D040BE2-2A67-FBE0-A98F-B0D85AA1908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424573" y="25745169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A813508E-B9EB-6C09-E96C-12AA995DFC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220661" y="21247101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CB25B35-8C3A-F255-4247-63CCF2DCEA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2432057" y="21298582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CEB33FC1-5473-7A12-3E8D-C58CC21D28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228598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011BDB6-C438-5329-5DAC-2A45C1F447E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2432057" y="16817070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CEF88326-8D26-5EC1-BD8A-E1116CB170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15712" y="30191756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29E9E52-3736-62F8-E282-CD10E8BFE7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1408229" y="25728613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5A505-F2F6-EC1B-F2D5-1E9A1D8140E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11854" y="21282026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025CF888-D949-CCC5-72E0-76825D0B59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15713" y="21298582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BE82858-A3ED-0689-7990-78BBAD5A24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204316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36445EC-F62C-42DA-66E0-5DA2F7D8BEE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1415713" y="16800514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77ADE4D-4ABA-E655-59C1-E92411C4EE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399" y="3546473"/>
            <a:ext cx="42062399" cy="649922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tx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Department of {Insert Name Here}, College {Insert Name Here}, Texas State University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6344EA-D2DF-ECEE-98B9-CE46934433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399" y="2537430"/>
            <a:ext cx="42062399" cy="928716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tx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Presenter Name, Associates and Collaborators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CB283C4F-E4CE-24D4-D880-EAB5170C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66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671D48-852B-8BE9-3263-5100FF9B5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009321"/>
            <a:ext cx="438912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exas State University.">
            <a:extLst>
              <a:ext uri="{FF2B5EF4-FFF2-40B4-BE49-F238E27FC236}">
                <a16:creationId xmlns:a16="http://schemas.microsoft.com/office/drawing/2014/main" id="{F4E8DC6A-0E94-E6C7-914A-412F936886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3383331" y="28823447"/>
            <a:ext cx="9144000" cy="2053732"/>
          </a:xfrm>
          <a:prstGeom prst="rect">
            <a:avLst/>
          </a:prstGeom>
        </p:spPr>
      </p:pic>
      <p:pic>
        <p:nvPicPr>
          <p:cNvPr id="15" name="Picture 14" descr="Member of the Texas State University System.&#10;">
            <a:extLst>
              <a:ext uri="{FF2B5EF4-FFF2-40B4-BE49-F238E27FC236}">
                <a16:creationId xmlns:a16="http://schemas.microsoft.com/office/drawing/2014/main" id="{80FBDA11-CAA9-F2EE-7E98-6FCA1A1610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3383331" y="31367267"/>
            <a:ext cx="9593468" cy="636734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4D011F31-6892-A6DA-1FEC-4D0C20C0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42062399" cy="1741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75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10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60" userDrawn="1">
          <p15:clr>
            <a:srgbClr val="F26B43"/>
          </p15:clr>
        </p15:guide>
        <p15:guide id="2" pos="6912" userDrawn="1">
          <p15:clr>
            <a:srgbClr val="F26B43"/>
          </p15:clr>
        </p15:guide>
        <p15:guide id="3" pos="13824" userDrawn="1">
          <p15:clr>
            <a:srgbClr val="F26B43"/>
          </p15:clr>
        </p15:guide>
        <p15:guide id="4" pos="20736" userDrawn="1">
          <p15:clr>
            <a:srgbClr val="F26B43"/>
          </p15:clr>
        </p15:guide>
        <p15:guide id="5" orient="horz" pos="3456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  <p15:guide id="7" pos="576" userDrawn="1">
          <p15:clr>
            <a:srgbClr val="F26B43"/>
          </p15:clr>
        </p15:guide>
        <p15:guide id="8" pos="270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9B307F63-8473-086C-7885-4790E71A46F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220413" y="14715708"/>
            <a:ext cx="10058400" cy="3755172"/>
          </a:xfrm>
        </p:spPr>
        <p:txBody>
          <a:bodyPr/>
          <a:lstStyle/>
          <a:p>
            <a:r>
              <a:rPr lang="en-US" sz="4000" b="1" dirty="0"/>
              <a:t>The San Marcos Industrial Loop (Concept Map)</a:t>
            </a:r>
          </a:p>
          <a:p>
            <a:r>
              <a:rPr lang="en-US" sz="3600" dirty="0"/>
              <a:t>A geospatial infographic showing the "Blue Line" pipeline route from the WWTP to the industrial corridor.</a:t>
            </a:r>
          </a:p>
          <a:p>
            <a:endParaRPr lang="en-US" dirty="0"/>
          </a:p>
        </p:txBody>
      </p:sp>
      <p:pic>
        <p:nvPicPr>
          <p:cNvPr id="14" name="Content Placeholder 13" descr="A graph of a recycle&#10;&#10;AI-generated content may be incorrect.">
            <a:extLst>
              <a:ext uri="{FF2B5EF4-FFF2-40B4-BE49-F238E27FC236}">
                <a16:creationId xmlns:a16="http://schemas.microsoft.com/office/drawing/2014/main" id="{EEFFFB73-1522-2B22-BC01-214C6BBE59BA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3"/>
          <a:stretch>
            <a:fillRect/>
          </a:stretch>
        </p:blipFill>
        <p:spPr>
          <a:xfrm>
            <a:off x="11280402" y="21031200"/>
            <a:ext cx="10058400" cy="6747253"/>
          </a:xfrm>
        </p:spPr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CB28553-F3FD-55C7-9DD4-28104E8A7F2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2273454" y="16459201"/>
            <a:ext cx="10209972" cy="14773502"/>
          </a:xfrm>
        </p:spPr>
        <p:txBody>
          <a:bodyPr/>
          <a:lstStyle/>
          <a:p>
            <a:r>
              <a:rPr lang="en-US" sz="4000" b="1" dirty="0"/>
              <a:t>Results (Scaling the Loop)</a:t>
            </a:r>
            <a:endParaRPr lang="en-US" sz="4000" dirty="0"/>
          </a:p>
          <a:p>
            <a:r>
              <a:rPr lang="en-US" sz="4000" dirty="0"/>
              <a:t>By Implementing "The San Marcos Industrial Loop," the city can achieve the following:</a:t>
            </a:r>
          </a:p>
          <a:p>
            <a:r>
              <a:rPr lang="en-US" sz="4000" dirty="0"/>
              <a:t>• </a:t>
            </a:r>
            <a:r>
              <a:rPr lang="en-US" sz="4000" b="1" dirty="0"/>
              <a:t>Potable Water Savings:</a:t>
            </a:r>
            <a:r>
              <a:rPr lang="en-US" sz="4000" dirty="0"/>
              <a:t> Converting 50% of the city's current discharge to industrial reuse saves </a:t>
            </a:r>
            <a:r>
              <a:rPr lang="en-US" sz="4000" b="1" dirty="0"/>
              <a:t>~9</a:t>
            </a:r>
            <a:endParaRPr lang="en-US" sz="4000" dirty="0"/>
          </a:p>
          <a:p>
            <a:r>
              <a:rPr lang="en-US" sz="4000" b="1" dirty="0"/>
              <a:t>Million Gallons of Fresh Water EVERY DAY</a:t>
            </a:r>
            <a:r>
              <a:rPr lang="en-US" sz="4000" dirty="0"/>
              <a:t>.</a:t>
            </a:r>
          </a:p>
          <a:p>
            <a:r>
              <a:rPr lang="en-US" sz="4000" dirty="0"/>
              <a:t>• </a:t>
            </a:r>
            <a:r>
              <a:rPr lang="en-US" sz="4000" b="1" dirty="0"/>
              <a:t>The Impact:</a:t>
            </a:r>
            <a:r>
              <a:rPr lang="en-US" sz="4000" dirty="0"/>
              <a:t> This is enough to fill </a:t>
            </a:r>
            <a:r>
              <a:rPr lang="en-US" sz="4000" b="1" dirty="0"/>
              <a:t>14 Olympic-sized swimming pools</a:t>
            </a:r>
            <a:r>
              <a:rPr lang="en-US" sz="4000" dirty="0"/>
              <a:t> every 24 hours.</a:t>
            </a:r>
          </a:p>
          <a:p>
            <a:r>
              <a:rPr lang="en-US" sz="4000" dirty="0"/>
              <a:t>• </a:t>
            </a:r>
            <a:r>
              <a:rPr lang="en-US" sz="4000" b="1" dirty="0"/>
              <a:t>Economic Resilience:</a:t>
            </a:r>
            <a:r>
              <a:rPr lang="en-US" sz="4000" dirty="0"/>
              <a:t> The loop provides "drought-proof" water to anchor tenants like </a:t>
            </a:r>
            <a:r>
              <a:rPr lang="en-US" sz="4000" b="1" dirty="0"/>
              <a:t>Highlander</a:t>
            </a:r>
            <a:endParaRPr lang="en-US" sz="4000" dirty="0"/>
          </a:p>
          <a:p>
            <a:r>
              <a:rPr lang="en-US" sz="4000" b="1" dirty="0"/>
              <a:t>Data Centers</a:t>
            </a:r>
            <a:r>
              <a:rPr lang="en-US" sz="4000" dirty="0"/>
              <a:t> and </a:t>
            </a:r>
            <a:r>
              <a:rPr lang="en-US" sz="4000" b="1" dirty="0" err="1"/>
              <a:t>Noveon</a:t>
            </a:r>
            <a:r>
              <a:rPr lang="en-US" sz="4000" b="1" dirty="0"/>
              <a:t> Magnetics</a:t>
            </a:r>
            <a:r>
              <a:rPr lang="en-US" sz="4000" dirty="0"/>
              <a:t>, ensuring they never have to shut down during Stage 4</a:t>
            </a:r>
          </a:p>
          <a:p>
            <a:r>
              <a:rPr lang="en-US" sz="4000" dirty="0"/>
              <a:t>restrictions.</a:t>
            </a:r>
          </a:p>
          <a:p>
            <a:r>
              <a:rPr lang="en-US" sz="4000" dirty="0"/>
              <a:t>• </a:t>
            </a:r>
            <a:r>
              <a:rPr lang="en-US" sz="4000" b="1" dirty="0"/>
              <a:t>Sustainability:</a:t>
            </a:r>
            <a:r>
              <a:rPr lang="en-US" sz="4000" dirty="0"/>
              <a:t> Reduces the withdrawal pressure on the San Marcos River and the Edwards Aquifer,</a:t>
            </a:r>
          </a:p>
          <a:p>
            <a:r>
              <a:rPr lang="en-US" sz="4000" dirty="0"/>
              <a:t>protecting local ecosystems while enabling economic expansion.</a:t>
            </a:r>
          </a:p>
          <a:p>
            <a:endParaRPr lang="en-US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F62A85D4-21C6-1691-22FD-96F5141FA87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408228" y="28487235"/>
            <a:ext cx="10058400" cy="2745468"/>
          </a:xfrm>
        </p:spPr>
        <p:txBody>
          <a:bodyPr/>
          <a:lstStyle/>
          <a:p>
            <a:r>
              <a:rPr lang="en-US" sz="4000" dirty="0"/>
              <a:t>Texas Water Reuse Breakdown</a:t>
            </a:r>
          </a:p>
          <a:p>
            <a:r>
              <a:rPr lang="en-US" sz="3600" dirty="0"/>
              <a:t>This chart highlights the massive volume of Industrial Reuse compared to all other types, justifying our focus on factories and data centers.</a:t>
            </a:r>
          </a:p>
          <a:p>
            <a:endParaRPr lang="en-US" dirty="0"/>
          </a:p>
        </p:txBody>
      </p:sp>
      <p:pic>
        <p:nvPicPr>
          <p:cNvPr id="12" name="Content Placeholder 11" descr="A map of a river&#10;&#10;AI-generated content may be incorrect.">
            <a:extLst>
              <a:ext uri="{FF2B5EF4-FFF2-40B4-BE49-F238E27FC236}">
                <a16:creationId xmlns:a16="http://schemas.microsoft.com/office/drawing/2014/main" id="{D85302C9-B886-6397-07BE-94957FEB2F9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/>
          <a:stretch>
            <a:fillRect/>
          </a:stretch>
        </p:blipFill>
        <p:spPr>
          <a:xfrm>
            <a:off x="33220413" y="18857914"/>
            <a:ext cx="9597782" cy="9567884"/>
          </a:xfrm>
        </p:spPr>
      </p:pic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59CB546-3F4F-D1B7-3181-04019508337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/>
          <a:stretch>
            <a:fillRect/>
          </a:stretch>
        </p:blipFill>
        <p:spPr>
          <a:xfrm>
            <a:off x="32990104" y="5923721"/>
            <a:ext cx="10058400" cy="8182274"/>
          </a:xfrm>
        </p:spPr>
      </p:pic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7BCFFB22-A997-B2CD-3349-D9E6011732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399" y="3546473"/>
            <a:ext cx="42062399" cy="649922"/>
          </a:xfrm>
        </p:spPr>
        <p:txBody>
          <a:bodyPr/>
          <a:lstStyle/>
          <a:p>
            <a:r>
              <a:rPr lang="en-US" dirty="0"/>
              <a:t>McCoy College of Business, College Of Science &amp; Engineering, Ingram School of Engineering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80E9137C-C878-6CA6-6966-494B9A2EDF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399" y="2537430"/>
            <a:ext cx="42062399" cy="928716"/>
          </a:xfrm>
        </p:spPr>
        <p:txBody>
          <a:bodyPr/>
          <a:lstStyle/>
          <a:p>
            <a:r>
              <a:rPr lang="en-US" dirty="0" err="1"/>
              <a:t>DataPie</a:t>
            </a:r>
            <a:r>
              <a:rPr lang="en-US" dirty="0"/>
              <a:t>: Sudip Bhandari, Kumar </a:t>
            </a:r>
            <a:r>
              <a:rPr lang="en-US" dirty="0" err="1"/>
              <a:t>Timalsina</a:t>
            </a:r>
            <a:r>
              <a:rPr lang="en-US" dirty="0"/>
              <a:t>, Sabin Khatiwada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40A99AD5-7B39-7E10-BCC2-EE523EAC51D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San Marcos Industrial Water Loop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65400-E90D-E64E-D99F-94A4FF574B82}"/>
              </a:ext>
            </a:extLst>
          </p:cNvPr>
          <p:cNvSpPr txBox="1"/>
          <p:nvPr/>
        </p:nvSpPr>
        <p:spPr>
          <a:xfrm>
            <a:off x="1391478" y="5923721"/>
            <a:ext cx="9144000" cy="1028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4800" b="1" dirty="0">
                <a:effectLst/>
              </a:rPr>
              <a:t>Question:</a:t>
            </a:r>
          </a:p>
          <a:p>
            <a:r>
              <a:rPr lang="en-US" sz="4000" dirty="0"/>
              <a:t>How can San Marcos utilize open data from the EPA Clean Watersheds Needs</a:t>
            </a:r>
          </a:p>
          <a:p>
            <a:r>
              <a:rPr lang="en-US" sz="4000" dirty="0"/>
              <a:t>Survey (CWNS) 2022 to implement a "Closed-Loop" Industrial Water System that protects the Edwards</a:t>
            </a:r>
          </a:p>
          <a:p>
            <a:r>
              <a:rPr lang="en-US" sz="4000" dirty="0"/>
              <a:t>Aquifer while supporting rapid industrial growth?</a:t>
            </a:r>
          </a:p>
          <a:p>
            <a:r>
              <a:rPr lang="en-US" sz="4800" b="1" dirty="0"/>
              <a:t>The Challenge:</a:t>
            </a:r>
          </a:p>
          <a:p>
            <a:r>
              <a:rPr lang="en-US" sz="4000" dirty="0"/>
              <a:t>San Marcos is currently under Stage 4 Drought restrictions, yet it is one of the</a:t>
            </a:r>
          </a:p>
          <a:p>
            <a:r>
              <a:rPr lang="en-US" sz="4000" dirty="0"/>
              <a:t>fastest-growing industrial corridors in the nation. How do we provide millions of gallons for data centers</a:t>
            </a:r>
          </a:p>
          <a:p>
            <a:r>
              <a:rPr lang="en-US" sz="4000" dirty="0"/>
              <a:t>and manufacturing without draining the city's drinking water?</a:t>
            </a:r>
          </a:p>
          <a:p>
            <a:endParaRPr lang="en-US" sz="280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FA32A-93A1-CCA7-E388-D4E913DC0ED8}"/>
              </a:ext>
            </a:extLst>
          </p:cNvPr>
          <p:cNvSpPr txBox="1"/>
          <p:nvPr/>
        </p:nvSpPr>
        <p:spPr>
          <a:xfrm>
            <a:off x="1391478" y="17360900"/>
            <a:ext cx="9144000" cy="14094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4400" b="1" dirty="0" err="1">
                <a:effectLst/>
              </a:rPr>
              <a:t>Methology</a:t>
            </a:r>
            <a:r>
              <a:rPr lang="en-US" sz="2800" dirty="0">
                <a:effectLst/>
              </a:rPr>
              <a:t>:</a:t>
            </a:r>
          </a:p>
          <a:p>
            <a:r>
              <a:rPr lang="en-US" sz="3200" dirty="0"/>
              <a:t>To solve this, we performed a multi-stage data analysis of the </a:t>
            </a:r>
            <a:r>
              <a:rPr lang="en-US" sz="3200" b="1" dirty="0"/>
              <a:t>EPA CWNS 2022 Dataset</a:t>
            </a:r>
            <a:r>
              <a:rPr lang="en-US" sz="3200" dirty="0"/>
              <a:t>:</a:t>
            </a:r>
          </a:p>
          <a:p>
            <a:r>
              <a:rPr lang="en-US" sz="3200" dirty="0"/>
              <a:t>1. </a:t>
            </a:r>
            <a:r>
              <a:rPr lang="en-US" sz="3200" b="1" dirty="0"/>
              <a:t>Data Extraction &amp; Cleaning:</a:t>
            </a:r>
            <a:endParaRPr lang="en-US" sz="3200" dirty="0"/>
          </a:p>
          <a:p>
            <a:r>
              <a:rPr lang="en-US" sz="3200" dirty="0"/>
              <a:t>• Processed `</a:t>
            </a:r>
            <a:r>
              <a:rPr lang="en-US" sz="3200" dirty="0" err="1"/>
              <a:t>FLOW.csv</a:t>
            </a:r>
            <a:r>
              <a:rPr lang="en-US" sz="3200" dirty="0"/>
              <a:t>` and `</a:t>
            </a:r>
            <a:r>
              <a:rPr lang="en-US" sz="3200" dirty="0" err="1"/>
              <a:t>DISCHARGES.csv</a:t>
            </a:r>
            <a:r>
              <a:rPr lang="en-US" sz="3200" dirty="0"/>
              <a:t>` using Python scripts to filter for Texas-based</a:t>
            </a:r>
          </a:p>
          <a:p>
            <a:r>
              <a:rPr lang="en-US" sz="3200" dirty="0"/>
              <a:t>facilities.</a:t>
            </a:r>
          </a:p>
          <a:p>
            <a:r>
              <a:rPr lang="en-US" sz="3200" dirty="0"/>
              <a:t>• Cleaned facility IDs and combined flow types to isolate "Total Flow" vs "Reuse" percentages.</a:t>
            </a:r>
          </a:p>
          <a:p>
            <a:r>
              <a:rPr lang="en-US" sz="3200" dirty="0"/>
              <a:t>2. </a:t>
            </a:r>
            <a:r>
              <a:rPr lang="en-US" sz="3200" b="1" dirty="0"/>
              <a:t>State-Wide Analysis:</a:t>
            </a:r>
            <a:endParaRPr lang="en-US" sz="3200" dirty="0"/>
          </a:p>
          <a:p>
            <a:r>
              <a:rPr lang="en-US" sz="3200" dirty="0"/>
              <a:t>• Calculated total water reuse volumes across Texas by joining discharge types with design flow</a:t>
            </a:r>
          </a:p>
          <a:p>
            <a:r>
              <a:rPr lang="en-US" sz="3200" dirty="0"/>
              <a:t>capacities.</a:t>
            </a:r>
          </a:p>
          <a:p>
            <a:r>
              <a:rPr lang="en-US" sz="3200" dirty="0"/>
              <a:t>• Segmented reuse into four categories: Industrial, Irrigation, Potable, and Agricultural.</a:t>
            </a:r>
          </a:p>
          <a:p>
            <a:r>
              <a:rPr lang="en-US" sz="3200" dirty="0"/>
              <a:t>3. </a:t>
            </a:r>
            <a:r>
              <a:rPr lang="en-US" sz="3200" b="1" dirty="0"/>
              <a:t>Local Identification:</a:t>
            </a:r>
            <a:endParaRPr lang="en-US" sz="3200" dirty="0"/>
          </a:p>
          <a:p>
            <a:r>
              <a:rPr lang="en-US" sz="3200" dirty="0"/>
              <a:t>• Triangulated San Marcos specific facility data using CWNS IDs `48008029001` and `48008029002`.</a:t>
            </a:r>
          </a:p>
          <a:p>
            <a:r>
              <a:rPr lang="en-US" sz="3200" dirty="0"/>
              <a:t>• Identified existing industrial "Significant Industrial Users" (SIUs) via the San Marcos Industrial</a:t>
            </a:r>
          </a:p>
          <a:p>
            <a:r>
              <a:rPr lang="en-US" sz="3200" dirty="0"/>
              <a:t>Pretreatment Program (IPP).</a:t>
            </a:r>
          </a:p>
          <a:p>
            <a:r>
              <a:rPr lang="en-US" sz="3200" dirty="0"/>
              <a:t>4. </a:t>
            </a:r>
            <a:r>
              <a:rPr lang="en-US" sz="3200" b="1" dirty="0"/>
              <a:t>Case Study Validation:</a:t>
            </a:r>
            <a:endParaRPr lang="en-US" sz="3200" dirty="0"/>
          </a:p>
          <a:p>
            <a:r>
              <a:rPr lang="en-US" sz="3200" dirty="0"/>
              <a:t>• Benchmarked the proposed San Marcos loop against the successful "40 Acre" Industrial WWTP</a:t>
            </a:r>
          </a:p>
          <a:p>
            <a:r>
              <a:rPr lang="en-US" sz="3200" dirty="0"/>
              <a:t>(GCA) in Texas City.</a:t>
            </a:r>
          </a:p>
          <a:p>
            <a:endParaRPr lang="en-US" sz="28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EE957-41C8-4661-BA0B-7B2C81200423}"/>
              </a:ext>
            </a:extLst>
          </p:cNvPr>
          <p:cNvSpPr txBox="1"/>
          <p:nvPr/>
        </p:nvSpPr>
        <p:spPr>
          <a:xfrm>
            <a:off x="11424037" y="5923721"/>
            <a:ext cx="10058400" cy="140944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4800" b="1" dirty="0"/>
              <a:t>Findings</a:t>
            </a:r>
          </a:p>
          <a:p>
            <a:r>
              <a:rPr lang="en-US" sz="4000" dirty="0"/>
              <a:t>• </a:t>
            </a:r>
            <a:r>
              <a:rPr lang="en-US" sz="4000" b="1" dirty="0"/>
              <a:t>The "Lost Asset":</a:t>
            </a:r>
            <a:r>
              <a:rPr lang="en-US" sz="4000" dirty="0"/>
              <a:t> San Marcos currently discharges </a:t>
            </a:r>
            <a:r>
              <a:rPr lang="en-US" sz="4000" b="1" dirty="0"/>
              <a:t>100%</a:t>
            </a:r>
            <a:r>
              <a:rPr lang="en-US" sz="4000" dirty="0"/>
              <a:t> of its treated wastewater (~17.8 MGD)</a:t>
            </a:r>
          </a:p>
          <a:p>
            <a:r>
              <a:rPr lang="en-US" sz="4000" dirty="0"/>
              <a:t>back into surface waters. This water is currently a "lost asset" that does not contribute to </a:t>
            </a:r>
            <a:r>
              <a:rPr lang="en-US" sz="4000" dirty="0" err="1"/>
              <a:t>droughtresilience</a:t>
            </a:r>
            <a:r>
              <a:rPr lang="en-US" sz="4000" dirty="0"/>
              <a:t>.</a:t>
            </a:r>
          </a:p>
          <a:p>
            <a:r>
              <a:rPr lang="en-US" sz="4000" dirty="0"/>
              <a:t>• </a:t>
            </a:r>
            <a:r>
              <a:rPr lang="en-US" sz="4000" b="1" dirty="0"/>
              <a:t>The State Leader:</a:t>
            </a:r>
            <a:r>
              <a:rPr lang="en-US" sz="4000" dirty="0"/>
              <a:t> Texas leads in </a:t>
            </a:r>
            <a:r>
              <a:rPr lang="en-US" sz="4000" b="1" dirty="0"/>
              <a:t>Industrial Water Reuse</a:t>
            </a:r>
            <a:r>
              <a:rPr lang="en-US" sz="4000" dirty="0"/>
              <a:t>, which accounts for </a:t>
            </a:r>
            <a:r>
              <a:rPr lang="en-US" sz="4000" b="1" dirty="0"/>
              <a:t>143.04 MGD</a:t>
            </a:r>
            <a:r>
              <a:rPr lang="en-US" sz="4000" dirty="0"/>
              <a:t> (over</a:t>
            </a:r>
          </a:p>
          <a:p>
            <a:r>
              <a:rPr lang="en-US" sz="4000" dirty="0"/>
              <a:t>70% of all reuse in the state). This proves that industry is the most efficient target for large-scale</a:t>
            </a:r>
          </a:p>
          <a:p>
            <a:r>
              <a:rPr lang="en-US" sz="4000" dirty="0"/>
              <a:t>recycling.</a:t>
            </a:r>
          </a:p>
          <a:p>
            <a:r>
              <a:rPr lang="en-US" sz="4000" dirty="0"/>
              <a:t>• </a:t>
            </a:r>
            <a:r>
              <a:rPr lang="en-US" sz="4000" b="1" dirty="0"/>
              <a:t>The Spatial Gap:</a:t>
            </a:r>
            <a:r>
              <a:rPr lang="en-US" sz="4000" dirty="0"/>
              <a:t> Geospatial analysis shows that major industrial candidates (</a:t>
            </a:r>
            <a:r>
              <a:rPr lang="en-US" sz="4000" dirty="0" err="1"/>
              <a:t>Noveon</a:t>
            </a:r>
            <a:r>
              <a:rPr lang="en-US" sz="4000" dirty="0"/>
              <a:t>, CFAN, and</a:t>
            </a:r>
          </a:p>
          <a:p>
            <a:r>
              <a:rPr lang="en-US" sz="4000" dirty="0"/>
              <a:t>the new $1.5B Highlander Data Center) are clustered along the I-35 corridor, less than </a:t>
            </a:r>
            <a:r>
              <a:rPr lang="en-US" sz="4000" b="1" dirty="0"/>
              <a:t>5 miles</a:t>
            </a:r>
            <a:r>
              <a:rPr lang="en-US" sz="4000" dirty="0"/>
              <a:t> from the</a:t>
            </a:r>
          </a:p>
          <a:p>
            <a:r>
              <a:rPr lang="en-US" sz="4000" dirty="0"/>
              <a:t>San Marcos WWTP, making a "Loop" pipeline physically viable.</a:t>
            </a:r>
          </a:p>
          <a:p>
            <a:endParaRPr lang="en-US" sz="28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1D241-1FDB-2A7C-1D07-D85F757DA381}"/>
              </a:ext>
            </a:extLst>
          </p:cNvPr>
          <p:cNvSpPr txBox="1"/>
          <p:nvPr/>
        </p:nvSpPr>
        <p:spPr>
          <a:xfrm>
            <a:off x="22370996" y="5923720"/>
            <a:ext cx="10058400" cy="10287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4200" b="1" dirty="0">
                <a:effectLst/>
              </a:rPr>
              <a:t>Header</a:t>
            </a:r>
          </a:p>
          <a:p>
            <a:pPr>
              <a:lnSpc>
                <a:spcPct val="150000"/>
              </a:lnSpc>
            </a:pPr>
            <a:r>
              <a:rPr lang="en-US" sz="2800" b="1" dirty="0" err="1">
                <a:effectLst/>
              </a:rPr>
              <a:t>Subheader</a:t>
            </a:r>
            <a:endParaRPr lang="en-US" sz="2800" b="1" dirty="0">
              <a:effectLst/>
            </a:endParaRPr>
          </a:p>
          <a:p>
            <a:r>
              <a:rPr lang="en-US" sz="2800" dirty="0">
                <a:effectLst/>
              </a:rPr>
              <a:t>Content goes here: </a:t>
            </a:r>
            <a:r>
              <a:rPr lang="en-US" sz="2800" dirty="0" err="1">
                <a:effectLst/>
              </a:rPr>
              <a:t>Totat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ullaborernam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harci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cus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cuscidendit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lat</a:t>
            </a:r>
            <a:r>
              <a:rPr lang="en-US" sz="2800" dirty="0">
                <a:effectLst/>
              </a:rPr>
              <a:t> et as </a:t>
            </a:r>
            <a:r>
              <a:rPr lang="en-US" sz="2800" dirty="0" err="1">
                <a:effectLst/>
              </a:rPr>
              <a:t>eum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explit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apicaboria</a:t>
            </a:r>
            <a:r>
              <a:rPr lang="en-US" sz="2800" dirty="0">
                <a:effectLst/>
              </a:rPr>
              <a:t> am que </a:t>
            </a:r>
            <a:r>
              <a:rPr lang="en-US" sz="2800" dirty="0" err="1">
                <a:effectLst/>
              </a:rPr>
              <a:t>vendent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inullup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tatur</a:t>
            </a:r>
            <a:r>
              <a:rPr lang="en-US" sz="2800" dirty="0">
                <a:effectLst/>
              </a:rPr>
              <a:t>? </a:t>
            </a:r>
            <a:r>
              <a:rPr lang="en-US" sz="2800" dirty="0" err="1">
                <a:effectLst/>
              </a:rPr>
              <a:t>Quia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voluptat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ut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prae</a:t>
            </a:r>
            <a:r>
              <a:rPr lang="en-US" sz="2800" dirty="0">
                <a:effectLst/>
              </a:rPr>
              <a:t>. Qui </a:t>
            </a:r>
            <a:r>
              <a:rPr lang="en-US" sz="2800" dirty="0" err="1">
                <a:effectLst/>
              </a:rPr>
              <a:t>blatibu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saecture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ut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volor</a:t>
            </a:r>
            <a:r>
              <a:rPr lang="en-US" sz="2800" dirty="0">
                <a:effectLst/>
              </a:rPr>
              <a:t> as a </a:t>
            </a:r>
            <a:r>
              <a:rPr lang="en-US" sz="2800" dirty="0" err="1">
                <a:effectLst/>
              </a:rPr>
              <a:t>audae</a:t>
            </a:r>
            <a:r>
              <a:rPr lang="en-US" sz="2800" dirty="0">
                <a:effectLst/>
              </a:rPr>
              <a:t> es </a:t>
            </a:r>
            <a:r>
              <a:rPr lang="en-US" sz="2800" dirty="0" err="1">
                <a:effectLst/>
              </a:rPr>
              <a:t>elenti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quis</a:t>
            </a:r>
            <a:r>
              <a:rPr lang="en-US" sz="2800" dirty="0">
                <a:effectLst/>
              </a:rPr>
              <a:t> qui </a:t>
            </a:r>
            <a:r>
              <a:rPr lang="en-US" sz="2800" dirty="0" err="1">
                <a:effectLst/>
              </a:rPr>
              <a:t>tessum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faccuptatet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odignisim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eatur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sincia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nusdantent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estem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haruntiatint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idit</a:t>
            </a:r>
            <a:r>
              <a:rPr lang="en-US" sz="2800" dirty="0">
                <a:effectLst/>
              </a:rPr>
              <a:t> rem </a:t>
            </a:r>
            <a:r>
              <a:rPr lang="en-US" sz="2800" dirty="0" err="1">
                <a:effectLst/>
              </a:rPr>
              <a:t>ulpa</a:t>
            </a:r>
            <a:r>
              <a:rPr lang="en-US" sz="2800" dirty="0">
                <a:effectLst/>
              </a:rPr>
              <a:t> et </a:t>
            </a:r>
            <a:r>
              <a:rPr lang="en-US" sz="2800" dirty="0" err="1">
                <a:effectLst/>
              </a:rPr>
              <a:t>exped</a:t>
            </a:r>
            <a:r>
              <a:rPr lang="en-US" sz="2800" dirty="0">
                <a:effectLst/>
              </a:rPr>
              <a:t> que </a:t>
            </a:r>
            <a:r>
              <a:rPr lang="en-US" sz="2800" dirty="0" err="1">
                <a:effectLst/>
              </a:rPr>
              <a:t>provitatatur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seque</a:t>
            </a:r>
            <a:r>
              <a:rPr lang="en-US" sz="2800" dirty="0">
                <a:effectLst/>
              </a:rPr>
              <a:t> pro </a:t>
            </a:r>
            <a:r>
              <a:rPr lang="en-US" sz="2800" dirty="0" err="1">
                <a:effectLst/>
              </a:rPr>
              <a:t>idi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nos</a:t>
            </a:r>
            <a:r>
              <a:rPr lang="en-US" sz="2800" dirty="0">
                <a:effectLst/>
              </a:rPr>
              <a:t> quid quo vent.</a:t>
            </a:r>
          </a:p>
          <a:p>
            <a:endParaRPr lang="en-US" sz="2800" dirty="0">
              <a:effectLst/>
            </a:endParaRPr>
          </a:p>
          <a:p>
            <a:r>
              <a:rPr lang="en-US" sz="2800" dirty="0"/>
              <a:t>Suggested format for numbered list:</a:t>
            </a:r>
            <a:endParaRPr lang="en-US" sz="2800" dirty="0">
              <a:effectLst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effectLst/>
              </a:rPr>
              <a:t>Ossus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volupicabore</a:t>
            </a:r>
            <a:r>
              <a:rPr lang="en-US" sz="2800" dirty="0">
                <a:effectLst/>
              </a:rPr>
              <a:t> et </a:t>
            </a:r>
            <a:r>
              <a:rPr lang="en-US" sz="2800" dirty="0" err="1">
                <a:effectLst/>
              </a:rPr>
              <a:t>iminciae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nitati</a:t>
            </a:r>
            <a:endParaRPr lang="en-US" sz="2800" dirty="0">
              <a:effectLst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effectLst/>
              </a:rPr>
              <a:t>Omnihil</a:t>
            </a:r>
            <a:r>
              <a:rPr lang="en-US" sz="2800" dirty="0">
                <a:effectLst/>
              </a:rPr>
              <a:t> et, </a:t>
            </a:r>
            <a:r>
              <a:rPr lang="en-US" sz="2800" dirty="0" err="1">
                <a:effectLst/>
              </a:rPr>
              <a:t>occulpa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venient</a:t>
            </a:r>
            <a:r>
              <a:rPr lang="en-US" sz="2800" dirty="0">
                <a:effectLst/>
              </a:rPr>
              <a:t> ab </a:t>
            </a:r>
            <a:r>
              <a:rPr lang="en-US" sz="2800" dirty="0" err="1">
                <a:effectLst/>
              </a:rPr>
              <a:t>ilibusam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volectes</a:t>
            </a:r>
            <a:endParaRPr lang="en-US" sz="2800" dirty="0">
              <a:effectLst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effectLst/>
              </a:rPr>
              <a:t>Tori </a:t>
            </a:r>
            <a:r>
              <a:rPr lang="en-US" sz="2800" dirty="0" err="1">
                <a:effectLst/>
              </a:rPr>
              <a:t>sitius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inciis</a:t>
            </a:r>
            <a:r>
              <a:rPr lang="en-US" sz="2800" dirty="0">
                <a:effectLst/>
              </a:rPr>
              <a:t> net </a:t>
            </a:r>
            <a:r>
              <a:rPr lang="en-US" sz="2800" dirty="0" err="1">
                <a:effectLst/>
              </a:rPr>
              <a:t>voluptatiis</a:t>
            </a:r>
            <a:r>
              <a:rPr lang="en-US" sz="2800" dirty="0">
                <a:effectLst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/>
              <a:t>A</a:t>
            </a:r>
            <a:r>
              <a:rPr lang="en-US" sz="2800" dirty="0" err="1">
                <a:effectLst/>
              </a:rPr>
              <a:t>uditius</a:t>
            </a:r>
            <a:r>
              <a:rPr lang="en-US" sz="2800" dirty="0">
                <a:effectLst/>
              </a:rPr>
              <a:t> dem </a:t>
            </a:r>
            <a:r>
              <a:rPr lang="en-US" sz="2800" dirty="0" err="1">
                <a:effectLst/>
              </a:rPr>
              <a:t>venimus</a:t>
            </a:r>
            <a:r>
              <a:rPr lang="en-US" sz="2800" dirty="0">
                <a:effectLst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/>
              <a:t>I</a:t>
            </a:r>
            <a:r>
              <a:rPr lang="en-US" sz="2800" dirty="0" err="1">
                <a:effectLst/>
              </a:rPr>
              <a:t>um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eatius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dolupta</a:t>
            </a:r>
            <a:endParaRPr lang="en-US" sz="2800" dirty="0">
              <a:effectLst/>
            </a:endParaRPr>
          </a:p>
          <a:p>
            <a:endParaRPr lang="en-US" sz="2800" dirty="0">
              <a:effectLst/>
            </a:endParaRPr>
          </a:p>
          <a:p>
            <a:r>
              <a:rPr lang="en-US" sz="2800" dirty="0" err="1">
                <a:effectLst/>
              </a:rPr>
              <a:t>Ossus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volupicabore</a:t>
            </a:r>
            <a:r>
              <a:rPr lang="en-US" sz="2800" dirty="0">
                <a:effectLst/>
              </a:rPr>
              <a:t> et </a:t>
            </a:r>
            <a:r>
              <a:rPr lang="en-US" sz="2800" dirty="0" err="1">
                <a:effectLst/>
              </a:rPr>
              <a:t>iminciae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nitati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diaeculpa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cumquo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omnihil</a:t>
            </a:r>
            <a:r>
              <a:rPr lang="en-US" sz="2800" dirty="0">
                <a:effectLst/>
              </a:rPr>
              <a:t> et, </a:t>
            </a:r>
            <a:r>
              <a:rPr lang="en-US" sz="2800" dirty="0" err="1">
                <a:effectLst/>
              </a:rPr>
              <a:t>occulpa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venient</a:t>
            </a:r>
            <a:r>
              <a:rPr lang="en-US" sz="2800" dirty="0">
                <a:effectLst/>
              </a:rPr>
              <a:t> ab </a:t>
            </a:r>
            <a:r>
              <a:rPr lang="en-US" sz="2800" dirty="0" err="1">
                <a:effectLst/>
              </a:rPr>
              <a:t>ilibusam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volectes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vellic</a:t>
            </a:r>
            <a:r>
              <a:rPr lang="en-US" sz="2800" dirty="0">
                <a:effectLst/>
              </a:rPr>
              <a:t> tori </a:t>
            </a:r>
            <a:r>
              <a:rPr lang="en-US" sz="2800" dirty="0" err="1">
                <a:effectLst/>
              </a:rPr>
              <a:t>sitiusam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inciis</a:t>
            </a:r>
            <a:r>
              <a:rPr lang="en-US" sz="2800" dirty="0">
                <a:effectLst/>
              </a:rPr>
              <a:t> net </a:t>
            </a:r>
            <a:r>
              <a:rPr lang="en-US" sz="2800" dirty="0" err="1">
                <a:effectLst/>
              </a:rPr>
              <a:t>voluptatiis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auditius</a:t>
            </a:r>
            <a:r>
              <a:rPr lang="en-US" sz="2800" dirty="0">
                <a:effectLst/>
              </a:rPr>
              <a:t> dem </a:t>
            </a:r>
            <a:r>
              <a:rPr lang="en-US" sz="2800" dirty="0" err="1">
                <a:effectLst/>
              </a:rPr>
              <a:t>venimus</a:t>
            </a:r>
            <a:r>
              <a:rPr lang="en-US" sz="28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856433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">
  <a:themeElements>
    <a:clrScheme name="TXST Dark">
      <a:dk1>
        <a:srgbClr val="363434"/>
      </a:dk1>
      <a:lt1>
        <a:srgbClr val="FFFFFF"/>
      </a:lt1>
      <a:dk2>
        <a:srgbClr val="501214"/>
      </a:dk2>
      <a:lt2>
        <a:srgbClr val="F5F1EE"/>
      </a:lt2>
      <a:accent1>
        <a:srgbClr val="D7BD8A"/>
      </a:accent1>
      <a:accent2>
        <a:srgbClr val="EB2E47"/>
      </a:accent2>
      <a:accent3>
        <a:srgbClr val="6EA095"/>
      </a:accent3>
      <a:accent4>
        <a:srgbClr val="EBBA45"/>
      </a:accent4>
      <a:accent5>
        <a:srgbClr val="EA664D"/>
      </a:accent5>
      <a:accent6>
        <a:srgbClr val="AC9155"/>
      </a:accent6>
      <a:hlink>
        <a:srgbClr val="007096"/>
      </a:hlink>
      <a:folHlink>
        <a:srgbClr val="26672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search Poster Template 202506" id="{AFA5CD41-DA88-794A-94A0-D0818E14A474}" vid="{7880971C-7176-9C45-A40B-E98BE3FDE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Poster</Template>
  <TotalTime>1182</TotalTime>
  <Words>733</Words>
  <Application>Microsoft Macintosh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 Display</vt:lpstr>
      <vt:lpstr>Arial</vt:lpstr>
      <vt:lpstr>Calibri</vt:lpstr>
      <vt:lpstr>Research Poster</vt:lpstr>
      <vt:lpstr>The San Marcos Industrial Water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Bhandari, Sudip</dc:creator>
  <cp:lastModifiedBy>Bhandari, Sudip</cp:lastModifiedBy>
  <cp:revision>1</cp:revision>
  <dcterms:created xsi:type="dcterms:W3CDTF">2026-02-12T02:22:53Z</dcterms:created>
  <dcterms:modified xsi:type="dcterms:W3CDTF">2026-02-12T22:05:06Z</dcterms:modified>
</cp:coreProperties>
</file>